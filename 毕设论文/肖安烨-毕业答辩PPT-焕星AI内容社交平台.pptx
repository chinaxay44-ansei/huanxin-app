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3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7780"/>
            <a:ext cx="12192000" cy="6858000"/>
          </a:xfrm>
          <a:prstGeom prst="rect">
            <a:avLst/>
          </a:prstGeom>
          <a:gradFill>
            <a:gsLst>
              <a:gs pos="0">
                <a:srgbClr val="0B1324"/>
              </a:gs>
              <a:gs pos="56000">
                <a:srgbClr val="132B45"/>
              </a:gs>
              <a:gs pos="100000">
                <a:srgbClr val="083344"/>
              </a:gs>
            </a:gsLst>
            <a:lin ang="81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666750"/>
            <a:ext cx="685800" cy="38100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876300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BAE6F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BAE6F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毕业设计（论文）答辩</a:t>
            </a:r>
            <a:endParaRPr sz="1200" b="1">
              <a:solidFill>
                <a:srgbClr val="BAE6F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1619250"/>
            <a:ext cx="723900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 ComfyUI 的</a:t>
            </a:r>
            <a:endParaRPr sz="3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多模态 AI 创作社交平台</a:t>
            </a:r>
            <a:endParaRPr sz="3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设计与实现</a:t>
            </a:r>
            <a:endParaRPr sz="3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90550" y="3810000"/>
            <a:ext cx="6858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7E6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D7E6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焕星平台：把 AI 生成、内容浏览、互动关系和同款复刻组合成一个完整 Web 应用。</a:t>
            </a:r>
            <a:endParaRPr sz="1350" b="0">
              <a:solidFill>
                <a:srgbClr val="D7E6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96250" y="1257300"/>
            <a:ext cx="2857500" cy="3524250"/>
          </a:xfrm>
          <a:prstGeom prst="rect">
            <a:avLst/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524875" y="16002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写真</a:t>
            </a:r>
            <a:endParaRPr sz="15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305800" y="1714500"/>
            <a:ext cx="114300" cy="114300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524875" y="20764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动作迁移</a:t>
            </a:r>
            <a:endParaRPr sz="15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305800" y="2190750"/>
            <a:ext cx="114300" cy="1143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524875" y="25527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同款复刻</a:t>
            </a:r>
            <a:endParaRPr sz="15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305800" y="2667000"/>
            <a:ext cx="114300" cy="11430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524875" y="30289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评论关注</a:t>
            </a:r>
            <a:endParaRPr sz="15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305800" y="3143250"/>
            <a:ext cx="114300" cy="11430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524875" y="35052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私信通知</a:t>
            </a:r>
            <a:endParaRPr sz="15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305800" y="3619500"/>
            <a:ext cx="114300" cy="114300"/>
          </a:xfrm>
          <a:prstGeom prst="rect">
            <a:avLst/>
          </a:prstGeom>
          <a:solidFill>
            <a:srgbClr val="A78B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524875" y="39814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后台配置</a:t>
            </a:r>
            <a:endParaRPr sz="15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305800" y="4095750"/>
            <a:ext cx="114300" cy="114300"/>
          </a:xfrm>
          <a:prstGeom prst="rect">
            <a:avLst/>
          </a:prstGeom>
          <a:solidFill>
            <a:srgbClr val="FB71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552450" y="5619750"/>
            <a:ext cx="4000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答辩人：肖安烨</a:t>
            </a:r>
            <a:endParaRPr sz="1125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25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专业：软件工程</a:t>
            </a:r>
            <a:endParaRPr sz="1125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25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学院：智能网联汽车学院</a:t>
            </a:r>
            <a:endParaRPr sz="1125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477500" y="5619750"/>
            <a:ext cx="762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BAE6F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BAE6F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</a:t>
            </a:r>
            <a:endParaRPr sz="1350" b="1">
              <a:solidFill>
                <a:srgbClr val="BAE6F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495300"/>
            <a:ext cx="34290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90600" y="42862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课题背景</a:t>
            </a:r>
            <a:endParaRPr sz="75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781050"/>
            <a:ext cx="8572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内容产品正在从“单次生成工具”走向“生成 + 社交 + 复刻”的平台形态。</a:t>
            </a:r>
            <a:endParaRPr sz="2550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17526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课题选择的核心判断</a:t>
            </a:r>
            <a:endParaRPr sz="12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2143125"/>
            <a:ext cx="32385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552450" y="2143125"/>
            <a:ext cx="323850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81050" y="2457450"/>
            <a:ext cx="2667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创作门槛降低</a:t>
            </a:r>
            <a:endParaRPr sz="1800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81050" y="3000375"/>
            <a:ext cx="2667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用户通过参考图、提示词或模板即可完成图片、视频类内容生产。</a:t>
            </a:r>
            <a:endParaRPr sz="12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933700" y="3905250"/>
            <a:ext cx="571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9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9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267200" y="2143125"/>
            <a:ext cx="32385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267200" y="2143125"/>
            <a:ext cx="3238500" cy="47625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495800" y="2457450"/>
            <a:ext cx="2667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内容形态变化</a:t>
            </a:r>
            <a:endParaRPr sz="1800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495800" y="3000375"/>
            <a:ext cx="2667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作品不只是发布结果，还可以继续被浏览、评论、做同款和再创作。</a:t>
            </a:r>
            <a:endParaRPr sz="12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648450" y="3905250"/>
            <a:ext cx="571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950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950" b="1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981950" y="2143125"/>
            <a:ext cx="32385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981950" y="2143125"/>
            <a:ext cx="3238500" cy="47625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210550" y="2457450"/>
            <a:ext cx="2667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个人开发可行</a:t>
            </a:r>
            <a:endParaRPr sz="1800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210550" y="3000375"/>
            <a:ext cx="2667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Next.js、Supabase、COS、RuningHub 等云服务降低了全栈开发成本。</a:t>
            </a:r>
            <a:endParaRPr sz="12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363200" y="3905250"/>
            <a:ext cx="571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95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950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428750" y="5048250"/>
            <a:ext cx="9334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428750" y="5048250"/>
            <a:ext cx="47625" cy="6667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581150" y="5172075"/>
            <a:ext cx="9086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课题目标：验证低成本条件下构建完整 AI 内容社交平台的工程路径</a:t>
            </a:r>
            <a:endParaRPr sz="1650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52450" y="6496050"/>
            <a:ext cx="571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5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焕星 AI 内容社交平台毕业设计答辩</a:t>
            </a:r>
            <a:endParaRPr sz="675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1049000" y="64389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900" b="1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495300"/>
            <a:ext cx="34290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90600" y="42862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系统定位</a:t>
            </a:r>
            <a:endParaRPr sz="75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781050"/>
            <a:ext cx="8572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焕星定位为移动端优先的 AI 内容社交平台，核心是让生成结果进入互动循环。</a:t>
            </a:r>
            <a:endParaRPr sz="2550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76300" y="2000250"/>
            <a:ext cx="10439400" cy="24765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238250" y="2476500"/>
            <a:ext cx="1571625" cy="1095375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38250" y="2476500"/>
            <a:ext cx="1571625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447800" y="27241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</a:t>
            </a:r>
            <a:endParaRPr sz="1800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428750" y="3095625"/>
            <a:ext cx="119062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上传素材</a:t>
            </a:r>
            <a:endParaRPr sz="9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选择玩法</a:t>
            </a:r>
            <a:endParaRPr sz="9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提交任务</a:t>
            </a:r>
            <a:endParaRPr sz="9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933700" y="3009900"/>
            <a:ext cx="590550" cy="19050"/>
          </a:xfrm>
          <a:prstGeom prst="rect">
            <a:avLst/>
          </a:prstGeom>
          <a:solidFill>
            <a:srgbClr val="D7DE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476625" y="2962275"/>
            <a:ext cx="95250" cy="95250"/>
          </a:xfrm>
          <a:prstGeom prst="rect">
            <a:avLst/>
          </a:prstGeom>
          <a:solidFill>
            <a:srgbClr val="D7DE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667125" y="2476500"/>
            <a:ext cx="1571625" cy="1095375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667125" y="2476500"/>
            <a:ext cx="1571625" cy="47625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876675" y="27241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发布</a:t>
            </a:r>
            <a:endParaRPr sz="1800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857625" y="3095625"/>
            <a:ext cx="119062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占位作品</a:t>
            </a:r>
            <a:endParaRPr sz="9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结果回写</a:t>
            </a:r>
            <a:endParaRPr sz="9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媒体存储</a:t>
            </a:r>
            <a:endParaRPr sz="9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362575" y="3009900"/>
            <a:ext cx="590550" cy="19050"/>
          </a:xfrm>
          <a:prstGeom prst="rect">
            <a:avLst/>
          </a:prstGeom>
          <a:solidFill>
            <a:srgbClr val="D7DE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905500" y="2962275"/>
            <a:ext cx="95250" cy="95250"/>
          </a:xfrm>
          <a:prstGeom prst="rect">
            <a:avLst/>
          </a:prstGeom>
          <a:solidFill>
            <a:srgbClr val="D7DE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096000" y="2476500"/>
            <a:ext cx="1571625" cy="1095375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096000" y="2476500"/>
            <a:ext cx="1571625" cy="47625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305550" y="27241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互动</a:t>
            </a:r>
            <a:endParaRPr sz="1800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0" y="3095625"/>
            <a:ext cx="119062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点赞评论</a:t>
            </a:r>
            <a:endParaRPr sz="9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关注作者</a:t>
            </a:r>
            <a:endParaRPr sz="9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私信沟通</a:t>
            </a:r>
            <a:endParaRPr sz="9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791450" y="3009900"/>
            <a:ext cx="590550" cy="19050"/>
          </a:xfrm>
          <a:prstGeom prst="rect">
            <a:avLst/>
          </a:prstGeom>
          <a:solidFill>
            <a:srgbClr val="D7DE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334375" y="2962275"/>
            <a:ext cx="95250" cy="95250"/>
          </a:xfrm>
          <a:prstGeom prst="rect">
            <a:avLst/>
          </a:prstGeom>
          <a:solidFill>
            <a:srgbClr val="D7DE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524875" y="2476500"/>
            <a:ext cx="1571625" cy="1095375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524875" y="2476500"/>
            <a:ext cx="1571625" cy="47625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734425" y="27241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复刻</a:t>
            </a:r>
            <a:endParaRPr sz="1800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715375" y="3095625"/>
            <a:ext cx="119062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读取配置</a:t>
            </a:r>
            <a:endParaRPr sz="9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替换素材</a:t>
            </a:r>
            <a:endParaRPr sz="9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再次生成</a:t>
            </a:r>
            <a:endParaRPr sz="9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333500" y="4895850"/>
            <a:ext cx="1143000" cy="285750"/>
          </a:xfrm>
          <a:prstGeom prst="rect">
            <a:avLst/>
          </a:prstGeom>
          <a:solidFill>
            <a:srgbClr val="EAF2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428750" y="4962525"/>
            <a:ext cx="952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用户端</a:t>
            </a:r>
            <a:endParaRPr sz="67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2857500" y="4895850"/>
            <a:ext cx="1333500" cy="285750"/>
          </a:xfrm>
          <a:prstGeom prst="rect">
            <a:avLst/>
          </a:prstGeom>
          <a:solidFill>
            <a:srgbClr val="E6FAF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2952750" y="4962525"/>
            <a:ext cx="1143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5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工作流</a:t>
            </a:r>
            <a:endParaRPr sz="675" b="1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572000" y="4895850"/>
            <a:ext cx="1333500" cy="285750"/>
          </a:xfrm>
          <a:prstGeom prst="rect">
            <a:avLst/>
          </a:prstGeom>
          <a:solidFill>
            <a:srgbClr val="EAF8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4667250" y="4962525"/>
            <a:ext cx="1143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5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数据闭环</a:t>
            </a:r>
            <a:endParaRPr sz="675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286500" y="4895850"/>
            <a:ext cx="1333500" cy="285750"/>
          </a:xfrm>
          <a:prstGeom prst="rect">
            <a:avLst/>
          </a:prstGeom>
          <a:solidFill>
            <a:srgbClr val="FFF4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6381750" y="4962525"/>
            <a:ext cx="1143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运营后台</a:t>
            </a:r>
            <a:endParaRPr sz="67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1428750" y="5524500"/>
            <a:ext cx="9048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答辩重点不是单个页面，而是从任务提交、状态更新、结果存储到作品互动的完整链路。</a:t>
            </a:r>
            <a:endParaRPr sz="1350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552450" y="6496050"/>
            <a:ext cx="571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5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焕星 AI 内容社交平台毕业设计答辩</a:t>
            </a:r>
            <a:endParaRPr sz="675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1049000" y="64389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900" b="1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495300"/>
            <a:ext cx="34290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90600" y="42862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总体架构</a:t>
            </a:r>
            <a:endParaRPr sz="75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781050"/>
            <a:ext cx="8572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系统采用前端、接口、数据与外部 AI 服务分层，降低个人项目的开发和运维复杂度。</a:t>
            </a:r>
            <a:endParaRPr sz="2550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1666875"/>
            <a:ext cx="11087100" cy="914400"/>
          </a:xfrm>
          <a:prstGeom prst="rect">
            <a:avLst/>
          </a:prstGeom>
          <a:solidFill>
            <a:srgbClr val="EAF2FF"/>
          </a:solidFill>
          <a:ln w="9525">
            <a:solidFill>
              <a:srgbClr val="D8E2EF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990725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表现层</a:t>
            </a:r>
            <a:endParaRPr sz="15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52450" y="2857500"/>
            <a:ext cx="11087100" cy="914400"/>
          </a:xfrm>
          <a:prstGeom prst="rect">
            <a:avLst/>
          </a:prstGeom>
          <a:solidFill>
            <a:srgbClr val="E6FAFD"/>
          </a:solidFill>
          <a:ln w="9525">
            <a:solidFill>
              <a:srgbClr val="D8E2EF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42950" y="31813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业务层</a:t>
            </a:r>
            <a:endParaRPr sz="1500" b="1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52450" y="4048125"/>
            <a:ext cx="11087100" cy="914400"/>
          </a:xfrm>
          <a:prstGeom prst="rect">
            <a:avLst/>
          </a:prstGeom>
          <a:solidFill>
            <a:srgbClr val="EAF8EF"/>
          </a:solidFill>
          <a:ln w="9525">
            <a:solidFill>
              <a:srgbClr val="D8E2E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42950" y="4371975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数据层</a:t>
            </a:r>
            <a:endParaRPr sz="1500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52450" y="5238750"/>
            <a:ext cx="11087100" cy="914400"/>
          </a:xfrm>
          <a:prstGeom prst="rect">
            <a:avLst/>
          </a:prstGeom>
          <a:solidFill>
            <a:srgbClr val="FFF4DD"/>
          </a:solidFill>
          <a:ln w="9525">
            <a:solidFill>
              <a:srgbClr val="D8E2EF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42950" y="556260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外部服务层</a:t>
            </a:r>
            <a:endParaRPr sz="15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266950" y="1838325"/>
            <a:ext cx="2571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2266950" y="1838325"/>
            <a:ext cx="47625" cy="5143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2419350" y="1962150"/>
            <a:ext cx="2324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Next.js App Router</a:t>
            </a:r>
            <a:endParaRPr sz="825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8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首页 / 视频 / 生成 / 消息 / 后台</a:t>
            </a:r>
            <a:endParaRPr sz="825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334000" y="1838325"/>
            <a:ext cx="2190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334000" y="1838325"/>
            <a:ext cx="47625" cy="5143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486400" y="1962150"/>
            <a:ext cx="1943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React + Tailwind CSS</a:t>
            </a:r>
            <a:endParaRPr sz="825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8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移动端优先交互</a:t>
            </a:r>
            <a:endParaRPr sz="825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266950" y="3028950"/>
            <a:ext cx="2857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2266950" y="3028950"/>
            <a:ext cx="47625" cy="514350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2419350" y="3152775"/>
            <a:ext cx="2609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Next.js API Routes</a:t>
            </a:r>
            <a:endParaRPr sz="825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8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认证校验 / 业务接口 / 回调处理</a:t>
            </a:r>
            <a:endParaRPr sz="825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810250" y="3028950"/>
            <a:ext cx="2857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5810250" y="3028950"/>
            <a:ext cx="47625" cy="514350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5962650" y="3152775"/>
            <a:ext cx="2609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中间件与工具层</a:t>
            </a:r>
            <a:endParaRPr sz="825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8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JWT / Supabase Client / Upload</a:t>
            </a:r>
            <a:endParaRPr sz="825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2266950" y="4219575"/>
            <a:ext cx="3143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2266950" y="4219575"/>
            <a:ext cx="47625" cy="51435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2419350" y="4343400"/>
            <a:ext cx="2895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Supabase PostgreSQL</a:t>
            </a:r>
            <a:endParaRPr sz="825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8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 / 作品 / 评论 / 消息 / AI任务</a:t>
            </a:r>
            <a:endParaRPr sz="825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096000" y="4219575"/>
            <a:ext cx="2857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096000" y="4219575"/>
            <a:ext cx="47625" cy="51435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248400" y="4343400"/>
            <a:ext cx="2609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对象存储</a:t>
            </a:r>
            <a:endParaRPr sz="825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8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Supabase Storage + 腾讯云 COS</a:t>
            </a:r>
            <a:endParaRPr sz="825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2266950" y="5410200"/>
            <a:ext cx="2857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2266950" y="5410200"/>
            <a:ext cx="47625" cy="51435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2419350" y="5534025"/>
            <a:ext cx="2609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RuningHub + ComfyUI</a:t>
            </a:r>
            <a:endParaRPr sz="825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8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云端执行 AI 工作流</a:t>
            </a:r>
            <a:endParaRPr sz="825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810250" y="5410200"/>
            <a:ext cx="2857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5810250" y="5410200"/>
            <a:ext cx="47625" cy="51435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5962650" y="5534025"/>
            <a:ext cx="2609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CDN / EdgeOne</a:t>
            </a:r>
            <a:endParaRPr sz="825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8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公网访问与静态资源加速</a:t>
            </a:r>
            <a:endParaRPr sz="825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6000750" y="2533650"/>
            <a:ext cx="19050" cy="514350"/>
          </a:xfrm>
          <a:prstGeom prst="rect">
            <a:avLst/>
          </a:prstGeom>
          <a:solidFill>
            <a:srgbClr val="A9B8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5953125" y="2971800"/>
            <a:ext cx="95250" cy="76200"/>
          </a:xfrm>
          <a:prstGeom prst="rect">
            <a:avLst/>
          </a:prstGeom>
          <a:solidFill>
            <a:srgbClr val="A9B8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6000750" y="3724275"/>
            <a:ext cx="19050" cy="514350"/>
          </a:xfrm>
          <a:prstGeom prst="rect">
            <a:avLst/>
          </a:prstGeom>
          <a:solidFill>
            <a:srgbClr val="A9B8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5953125" y="4162425"/>
            <a:ext cx="95250" cy="76200"/>
          </a:xfrm>
          <a:prstGeom prst="rect">
            <a:avLst/>
          </a:prstGeom>
          <a:solidFill>
            <a:srgbClr val="A9B8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6000750" y="4914900"/>
            <a:ext cx="19050" cy="514350"/>
          </a:xfrm>
          <a:prstGeom prst="rect">
            <a:avLst/>
          </a:prstGeom>
          <a:solidFill>
            <a:srgbClr val="A9B8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5953125" y="5353050"/>
            <a:ext cx="95250" cy="76200"/>
          </a:xfrm>
          <a:prstGeom prst="rect">
            <a:avLst/>
          </a:prstGeom>
          <a:solidFill>
            <a:srgbClr val="A9B8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552450" y="6496050"/>
            <a:ext cx="571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5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焕星 AI 内容社交平台毕业设计答辩</a:t>
            </a:r>
            <a:endParaRPr sz="675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11049000" y="64389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900" b="1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3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495300"/>
            <a:ext cx="342900" cy="28575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990600" y="42862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A7F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A7F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AI 工作流</a:t>
            </a:r>
            <a:endParaRPr sz="750" b="1">
              <a:solidFill>
                <a:srgbClr val="A7F3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781050"/>
            <a:ext cx="8572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生成采用异步任务闭环：先建任务与占位作品，再等待 Webhook 回写结果。</a:t>
            </a:r>
            <a:endParaRPr sz="24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42950" y="2381250"/>
            <a:ext cx="1562100" cy="1428750"/>
          </a:xfrm>
          <a:prstGeom prst="rect">
            <a:avLst/>
          </a:prstGeom>
          <a:solidFill>
            <a:srgbClr val="FFFFFF">
              <a:alpha val="7059"/>
            </a:srgbClr>
          </a:solidFill>
          <a:ln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2381250"/>
            <a:ext cx="156210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2724150"/>
            <a:ext cx="1219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用户提交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3181350"/>
            <a:ext cx="12192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上传素材</a:t>
            </a:r>
            <a:endParaRPr sz="975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75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选择玩法</a:t>
            </a:r>
            <a:endParaRPr sz="975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305050" y="3086100"/>
            <a:ext cx="476250" cy="19050"/>
          </a:xfrm>
          <a:prstGeom prst="rect">
            <a:avLst/>
          </a:prstGeom>
          <a:solidFill>
            <a:srgbClr val="5B6B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2724150" y="3038475"/>
            <a:ext cx="95250" cy="95250"/>
          </a:xfrm>
          <a:prstGeom prst="rect">
            <a:avLst/>
          </a:prstGeom>
          <a:solidFill>
            <a:srgbClr val="5B6B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781300" y="2381250"/>
            <a:ext cx="1562100" cy="1428750"/>
          </a:xfrm>
          <a:prstGeom prst="rect">
            <a:avLst/>
          </a:prstGeom>
          <a:solidFill>
            <a:srgbClr val="FFFFFF">
              <a:alpha val="7059"/>
            </a:srgbClr>
          </a:solidFill>
          <a:ln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2781300" y="2381250"/>
            <a:ext cx="1562100" cy="47625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2952750" y="2724150"/>
            <a:ext cx="1219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写入任务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952750" y="3181350"/>
            <a:ext cx="12192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ai_generations</a:t>
            </a:r>
            <a:endParaRPr sz="975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75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占位作品</a:t>
            </a:r>
            <a:endParaRPr sz="975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343400" y="3086100"/>
            <a:ext cx="476250" cy="19050"/>
          </a:xfrm>
          <a:prstGeom prst="rect">
            <a:avLst/>
          </a:prstGeom>
          <a:solidFill>
            <a:srgbClr val="5B6B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762500" y="3038475"/>
            <a:ext cx="95250" cy="95250"/>
          </a:xfrm>
          <a:prstGeom prst="rect">
            <a:avLst/>
          </a:prstGeom>
          <a:solidFill>
            <a:srgbClr val="5B6B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819650" y="2381250"/>
            <a:ext cx="1562100" cy="1428750"/>
          </a:xfrm>
          <a:prstGeom prst="rect">
            <a:avLst/>
          </a:prstGeom>
          <a:solidFill>
            <a:srgbClr val="FFFFFF">
              <a:alpha val="7059"/>
            </a:srgbClr>
          </a:solidFill>
          <a:ln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819650" y="2381250"/>
            <a:ext cx="1562100" cy="47625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991100" y="2724150"/>
            <a:ext cx="1219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云端执行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991100" y="3181350"/>
            <a:ext cx="12192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RuningHub</a:t>
            </a:r>
            <a:endParaRPr sz="975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75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ComfyUI 工作流</a:t>
            </a:r>
            <a:endParaRPr sz="975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381750" y="3086100"/>
            <a:ext cx="476250" cy="19050"/>
          </a:xfrm>
          <a:prstGeom prst="rect">
            <a:avLst/>
          </a:prstGeom>
          <a:solidFill>
            <a:srgbClr val="5B6B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800850" y="3038475"/>
            <a:ext cx="95250" cy="95250"/>
          </a:xfrm>
          <a:prstGeom prst="rect">
            <a:avLst/>
          </a:prstGeom>
          <a:solidFill>
            <a:srgbClr val="5B6B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858000" y="2381250"/>
            <a:ext cx="1562100" cy="1428750"/>
          </a:xfrm>
          <a:prstGeom prst="rect">
            <a:avLst/>
          </a:prstGeom>
          <a:solidFill>
            <a:srgbClr val="FFFFFF">
              <a:alpha val="7059"/>
            </a:srgbClr>
          </a:solidFill>
          <a:ln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858000" y="2381250"/>
            <a:ext cx="1562100" cy="47625"/>
          </a:xfrm>
          <a:prstGeom prst="rect">
            <a:avLst/>
          </a:prstGeom>
          <a:solidFill>
            <a:srgbClr val="A78B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029450" y="2724150"/>
            <a:ext cx="1219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回调处理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029450" y="3181350"/>
            <a:ext cx="12192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Webhook</a:t>
            </a:r>
            <a:endParaRPr sz="975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75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下载并转存 COS</a:t>
            </a:r>
            <a:endParaRPr sz="975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420100" y="3086100"/>
            <a:ext cx="476250" cy="19050"/>
          </a:xfrm>
          <a:prstGeom prst="rect">
            <a:avLst/>
          </a:prstGeom>
          <a:solidFill>
            <a:srgbClr val="5B6B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839200" y="3038475"/>
            <a:ext cx="95250" cy="95250"/>
          </a:xfrm>
          <a:prstGeom prst="rect">
            <a:avLst/>
          </a:prstGeom>
          <a:solidFill>
            <a:srgbClr val="5B6B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896350" y="2381250"/>
            <a:ext cx="1562100" cy="1428750"/>
          </a:xfrm>
          <a:prstGeom prst="rect">
            <a:avLst/>
          </a:prstGeom>
          <a:solidFill>
            <a:srgbClr val="FFFFFF">
              <a:alpha val="7059"/>
            </a:srgbClr>
          </a:solidFill>
          <a:ln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8896350" y="2381250"/>
            <a:ext cx="1562100" cy="47625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9067800" y="2724150"/>
            <a:ext cx="1219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内容展示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9067800" y="3181350"/>
            <a:ext cx="12192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更新作品状态</a:t>
            </a:r>
            <a:endParaRPr sz="975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75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通知用户</a:t>
            </a:r>
            <a:endParaRPr sz="975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047750" y="4686300"/>
            <a:ext cx="4762500" cy="838200"/>
          </a:xfrm>
          <a:prstGeom prst="rect">
            <a:avLst/>
          </a:prstGeom>
          <a:solidFill>
            <a:srgbClr val="0F233B"/>
          </a:solidFill>
          <a:ln w="9525">
            <a:solidFill>
              <a:srgbClr val="26415E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1295400" y="48958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BAE6F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BAE6F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为什么不用纯轮询？</a:t>
            </a:r>
            <a:endParaRPr sz="1350" b="1">
              <a:solidFill>
                <a:srgbClr val="BAE6F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3143250" y="4876800"/>
            <a:ext cx="2381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D7E6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D7E6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轮询会增加接口压力，也容易造成页面状态与任务状态不同步。Webhook 由任务完成事件主动触发，更适合耗时 AI 任务。</a:t>
            </a:r>
            <a:endParaRPr sz="940" b="0">
              <a:solidFill>
                <a:srgbClr val="D7E6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572250" y="4686300"/>
            <a:ext cx="4000500" cy="838200"/>
          </a:xfrm>
          <a:prstGeom prst="rect">
            <a:avLst/>
          </a:prstGeom>
          <a:solidFill>
            <a:srgbClr val="102A24"/>
          </a:solidFill>
          <a:ln w="9525">
            <a:solidFill>
              <a:srgbClr val="245345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6838950" y="4895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BBF7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BBF7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闭环结果</a:t>
            </a:r>
            <a:endParaRPr sz="1350" b="1">
              <a:solidFill>
                <a:srgbClr val="BBF7D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096250" y="487680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DCFCE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DCFCE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任务状态、作品状态、媒体地址和通知记录同步更新，用户可以在个人页或消息页看到生成结果。</a:t>
            </a:r>
            <a:endParaRPr sz="940" b="0">
              <a:solidFill>
                <a:srgbClr val="DCFCE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552450" y="6496050"/>
            <a:ext cx="571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5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workflow / async callback</a:t>
            </a:r>
            <a:endParaRPr sz="675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11049000" y="64389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900" b="1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495300"/>
            <a:ext cx="34290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90600" y="42862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数据库设计</a:t>
            </a:r>
            <a:endParaRPr sz="75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781050"/>
            <a:ext cx="8572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数据库围绕 users、works、ai_generations 三条主线组织，支撑内容、互动和生成任务。</a:t>
            </a:r>
            <a:endParaRPr sz="2550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2000250"/>
            <a:ext cx="2000250" cy="2857500"/>
          </a:xfrm>
          <a:prstGeom prst="rect">
            <a:avLst/>
          </a:prstGeom>
          <a:solidFill>
            <a:srgbClr val="EEF4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009650" y="21717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用户域</a:t>
            </a:r>
            <a:endParaRPr sz="15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66800" y="2609850"/>
            <a:ext cx="15240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066800" y="2609850"/>
            <a:ext cx="47625" cy="3429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219200" y="2733675"/>
            <a:ext cx="1276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users</a:t>
            </a:r>
            <a:endParaRPr sz="900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3105150"/>
            <a:ext cx="15240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066800" y="3105150"/>
            <a:ext cx="47625" cy="3429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219200" y="3228975"/>
            <a:ext cx="1276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user_profiles</a:t>
            </a:r>
            <a:endParaRPr sz="900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066800" y="3600450"/>
            <a:ext cx="15240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066800" y="3600450"/>
            <a:ext cx="47625" cy="3429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219200" y="3724275"/>
            <a:ext cx="1276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follows</a:t>
            </a:r>
            <a:endParaRPr sz="900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476625" y="2000250"/>
            <a:ext cx="2381250" cy="2857500"/>
          </a:xfrm>
          <a:prstGeom prst="rect">
            <a:avLst/>
          </a:prstGeom>
          <a:solidFill>
            <a:srgbClr val="ECFE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3648075" y="21717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内容与 AI 域</a:t>
            </a:r>
            <a:endParaRPr sz="1500" b="1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705225" y="2609850"/>
            <a:ext cx="1857375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3705225" y="2609850"/>
            <a:ext cx="47625" cy="342900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3857625" y="2733675"/>
            <a:ext cx="160972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works</a:t>
            </a:r>
            <a:endParaRPr sz="900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3705225" y="3105150"/>
            <a:ext cx="1857375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3705225" y="3105150"/>
            <a:ext cx="47625" cy="342900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3857625" y="3228975"/>
            <a:ext cx="160972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categories</a:t>
            </a:r>
            <a:endParaRPr sz="900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3705225" y="3600450"/>
            <a:ext cx="1857375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3705225" y="3600450"/>
            <a:ext cx="47625" cy="342900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3857625" y="3724275"/>
            <a:ext cx="160972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ai_generations</a:t>
            </a:r>
            <a:endParaRPr sz="900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705225" y="4095750"/>
            <a:ext cx="1857375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3705225" y="4095750"/>
            <a:ext cx="47625" cy="342900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3857625" y="4219575"/>
            <a:ext cx="160972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user_assets</a:t>
            </a:r>
            <a:endParaRPr sz="900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572250" y="2000250"/>
            <a:ext cx="2000250" cy="2857500"/>
          </a:xfrm>
          <a:prstGeom prst="rect">
            <a:avLst/>
          </a:prstGeom>
          <a:solidFill>
            <a:srgbClr val="F0FDF4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6743700" y="21717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互动域</a:t>
            </a:r>
            <a:endParaRPr sz="1500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800850" y="2609850"/>
            <a:ext cx="15240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6800850" y="2609850"/>
            <a:ext cx="47625" cy="34290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6953250" y="2733675"/>
            <a:ext cx="1276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comments</a:t>
            </a:r>
            <a:endParaRPr sz="900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800850" y="3105150"/>
            <a:ext cx="15240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6800850" y="3105150"/>
            <a:ext cx="47625" cy="34290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6953250" y="3228975"/>
            <a:ext cx="1276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likes</a:t>
            </a:r>
            <a:endParaRPr sz="900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800850" y="3600450"/>
            <a:ext cx="15240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6800850" y="3600450"/>
            <a:ext cx="47625" cy="34290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6953250" y="3724275"/>
            <a:ext cx="1276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comment_likes</a:t>
            </a:r>
            <a:endParaRPr sz="900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9144000" y="2000250"/>
            <a:ext cx="2000250" cy="2857500"/>
          </a:xfrm>
          <a:prstGeom prst="rect">
            <a:avLst/>
          </a:prstGeom>
          <a:solidFill>
            <a:srgbClr val="FFFBEB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9315450" y="21717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消息域</a:t>
            </a:r>
            <a:endParaRPr sz="15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9372600" y="2609850"/>
            <a:ext cx="15240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9372600" y="2609850"/>
            <a:ext cx="47625" cy="34290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9525000" y="2733675"/>
            <a:ext cx="1276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conversations</a:t>
            </a:r>
            <a:endParaRPr sz="900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9372600" y="3105150"/>
            <a:ext cx="15240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9372600" y="3105150"/>
            <a:ext cx="47625" cy="34290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9525000" y="3228975"/>
            <a:ext cx="1276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messages</a:t>
            </a:r>
            <a:endParaRPr sz="900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9372600" y="3600450"/>
            <a:ext cx="15240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9372600" y="3600450"/>
            <a:ext cx="47625" cy="34290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9525000" y="3724275"/>
            <a:ext cx="1276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notifications</a:t>
            </a:r>
            <a:endParaRPr sz="900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2857500" y="3448050"/>
            <a:ext cx="619125" cy="19050"/>
          </a:xfrm>
          <a:prstGeom prst="rect">
            <a:avLst/>
          </a:prstGeom>
          <a:solidFill>
            <a:srgbClr val="D7DE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5857875" y="3448050"/>
            <a:ext cx="714375" cy="19050"/>
          </a:xfrm>
          <a:prstGeom prst="rect">
            <a:avLst/>
          </a:prstGeom>
          <a:solidFill>
            <a:srgbClr val="D7DE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8572500" y="3448050"/>
            <a:ext cx="571500" cy="19050"/>
          </a:xfrm>
          <a:prstGeom prst="rect">
            <a:avLst/>
          </a:prstGeom>
          <a:solidFill>
            <a:srgbClr val="D7DE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1428750" y="5286375"/>
            <a:ext cx="9334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关键关系：用户发布作品；作品承载评论和点赞；AI 任务完成后回写作品；会话和消息承接私信通知。</a:t>
            </a:r>
            <a:endParaRPr sz="1350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552450" y="6496050"/>
            <a:ext cx="571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5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焕星 AI 内容社交平台毕业设计答辩</a:t>
            </a:r>
            <a:endParaRPr sz="675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11049000" y="64389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900" b="1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495300"/>
            <a:ext cx="34290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90600" y="42862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功能模块</a:t>
            </a:r>
            <a:endParaRPr sz="75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781050"/>
            <a:ext cx="8572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核心功能按用户路径拆分为八个模块，前台体验和后台配置共同支撑平台运行。</a:t>
            </a:r>
            <a:endParaRPr sz="2550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2152650"/>
            <a:ext cx="22860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23900" y="2152650"/>
            <a:ext cx="228600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2381250"/>
            <a:ext cx="95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认证</a:t>
            </a:r>
            <a:endParaRPr sz="1725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981200" y="2390775"/>
            <a:ext cx="762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登录注册</a:t>
            </a:r>
            <a:endParaRPr sz="94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>
              <a:defRPr sz="9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JWT Cookie</a:t>
            </a:r>
            <a:endParaRPr sz="94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14400" y="285750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3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505200" y="2152650"/>
            <a:ext cx="22860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505200" y="2152650"/>
            <a:ext cx="2286000" cy="47625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695700" y="2381250"/>
            <a:ext cx="95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内容流</a:t>
            </a:r>
            <a:endParaRPr sz="1725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762500" y="2390775"/>
            <a:ext cx="762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首页瀑布流</a:t>
            </a:r>
            <a:endParaRPr sz="94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>
              <a:defRPr sz="9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视频播放</a:t>
            </a:r>
            <a:endParaRPr sz="94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695700" y="285750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350" b="1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0" y="2152650"/>
            <a:ext cx="22860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286500" y="2152650"/>
            <a:ext cx="2286000" cy="47625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477000" y="2381250"/>
            <a:ext cx="95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生成</a:t>
            </a:r>
            <a:endParaRPr sz="1725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543800" y="2390775"/>
            <a:ext cx="762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功能目录</a:t>
            </a:r>
            <a:endParaRPr sz="94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>
              <a:defRPr sz="9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任务提交</a:t>
            </a:r>
            <a:endParaRPr sz="94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477000" y="285750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35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067800" y="2152650"/>
            <a:ext cx="22860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067800" y="2152650"/>
            <a:ext cx="2286000" cy="47625"/>
          </a:xfrm>
          <a:prstGeom prst="rect">
            <a:avLst/>
          </a:prstGeom>
          <a:solidFill>
            <a:srgbClr val="A855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258300" y="2381250"/>
            <a:ext cx="95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同款复刻</a:t>
            </a:r>
            <a:endParaRPr sz="1725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0325100" y="2390775"/>
            <a:ext cx="762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JSON 配置</a:t>
            </a:r>
            <a:endParaRPr sz="94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>
              <a:defRPr sz="9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参数替换</a:t>
            </a:r>
            <a:endParaRPr sz="94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258300" y="285750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350" b="1">
              <a:solidFill>
                <a:srgbClr val="A855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23900" y="3771900"/>
            <a:ext cx="22860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23900" y="3771900"/>
            <a:ext cx="2286000" cy="47625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14400" y="4000500"/>
            <a:ext cx="95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社交互动</a:t>
            </a:r>
            <a:endParaRPr sz="1725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981200" y="4010025"/>
            <a:ext cx="762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点赞评论</a:t>
            </a:r>
            <a:endParaRPr sz="94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>
              <a:defRPr sz="9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关注回复</a:t>
            </a:r>
            <a:endParaRPr sz="94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14400" y="447675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350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505200" y="3771900"/>
            <a:ext cx="22860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3505200" y="3771900"/>
            <a:ext cx="2286000" cy="47625"/>
          </a:xfrm>
          <a:prstGeom prst="rect">
            <a:avLst/>
          </a:prstGeom>
          <a:solidFill>
            <a:srgbClr val="0EA5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3695700" y="4000500"/>
            <a:ext cx="95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私信</a:t>
            </a:r>
            <a:endParaRPr sz="1725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4762500" y="4010025"/>
            <a:ext cx="762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会话列表</a:t>
            </a:r>
            <a:endParaRPr sz="94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>
              <a:defRPr sz="9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实时消息</a:t>
            </a:r>
            <a:endParaRPr sz="94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3695700" y="447675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EA5E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EA5E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350" b="1">
              <a:solidFill>
                <a:srgbClr val="0EA5E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286500" y="3771900"/>
            <a:ext cx="22860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6286500" y="3771900"/>
            <a:ext cx="2286000" cy="47625"/>
          </a:xfrm>
          <a:prstGeom prst="rect">
            <a:avLst/>
          </a:prstGeom>
          <a:solidFill>
            <a:srgbClr val="F9731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6477000" y="4000500"/>
            <a:ext cx="95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个人中心</a:t>
            </a:r>
            <a:endParaRPr sz="1725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7543800" y="4010025"/>
            <a:ext cx="762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作品管理</a:t>
            </a:r>
            <a:endParaRPr sz="94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>
              <a:defRPr sz="9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形象素材</a:t>
            </a:r>
            <a:endParaRPr sz="94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477000" y="447675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350" b="1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9067800" y="3771900"/>
            <a:ext cx="22860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9067800" y="3771900"/>
            <a:ext cx="2286000" cy="47625"/>
          </a:xfrm>
          <a:prstGeom prst="rect">
            <a:avLst/>
          </a:prstGeom>
          <a:solidFill>
            <a:srgbClr val="EF44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9258300" y="4000500"/>
            <a:ext cx="95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管理后台</a:t>
            </a:r>
            <a:endParaRPr sz="1725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10325100" y="4010025"/>
            <a:ext cx="762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分类配置</a:t>
            </a:r>
            <a:endParaRPr sz="94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>
              <a:defRPr sz="9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作品审核</a:t>
            </a:r>
            <a:endParaRPr sz="94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9258300" y="447675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EF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EF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350" b="1">
              <a:solidFill>
                <a:srgbClr val="EF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1619250" y="5619750"/>
            <a:ext cx="895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设计原则：先跑通完整路径，再逐步替换真实接口、数据库和外部服务。</a:t>
            </a:r>
            <a:endParaRPr sz="1350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552450" y="6496050"/>
            <a:ext cx="571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5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焕星 AI 内容社交平台毕业设计答辩</a:t>
            </a:r>
            <a:endParaRPr sz="675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11049000" y="64389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900" b="1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495300"/>
            <a:ext cx="34290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90600" y="42862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核心实现</a:t>
            </a:r>
            <a:endParaRPr sz="75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781050"/>
            <a:ext cx="8572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实现重点不在单个页面，而在跨模块状态一致性和可扩展配置能力。</a:t>
            </a:r>
            <a:endParaRPr sz="2550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19150" y="1809750"/>
            <a:ext cx="47625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19150" y="1809750"/>
            <a:ext cx="76200" cy="9144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85850" y="200025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认证闭环</a:t>
            </a:r>
            <a:endParaRPr sz="1575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628900" y="1990725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登录成功后生成 JWT，并写入 HTTP-only Cookie；接口侧统一复用认证中间件。</a:t>
            </a:r>
            <a:endParaRPr sz="94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19150" y="3095625"/>
            <a:ext cx="47625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19150" y="3095625"/>
            <a:ext cx="76200" cy="914400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085850" y="3286125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内容加载</a:t>
            </a:r>
            <a:endParaRPr sz="1575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628900" y="3276600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首页按分类和分页请求作品，结合双列高度估算实现移动端瀑布流。</a:t>
            </a:r>
            <a:endParaRPr sz="94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19150" y="4381500"/>
            <a:ext cx="47625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19150" y="4381500"/>
            <a:ext cx="76200" cy="91440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085850" y="45720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生成任务</a:t>
            </a:r>
            <a:endParaRPr sz="1575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628900" y="4562475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提交后先写 ai_generations 和占位作品，等待回调更新最终状态。</a:t>
            </a:r>
            <a:endParaRPr sz="94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343650" y="1809750"/>
            <a:ext cx="47625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343650" y="1809750"/>
            <a:ext cx="76200" cy="914400"/>
          </a:xfrm>
          <a:prstGeom prst="rect">
            <a:avLst/>
          </a:prstGeom>
          <a:solidFill>
            <a:srgbClr val="A855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610350" y="200025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同款复刻</a:t>
            </a:r>
            <a:endParaRPr sz="1575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153400" y="1990725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读取原作品 generation_params.request_json，替换可变节点后重新提交。</a:t>
            </a:r>
            <a:endParaRPr sz="94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343650" y="3095625"/>
            <a:ext cx="47625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343650" y="3095625"/>
            <a:ext cx="76200" cy="91440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610350" y="3286125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实时消息</a:t>
            </a:r>
            <a:endParaRPr sz="1575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153400" y="3276600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聊天页订阅 Supabase Realtime，根据会话 ID 同步消息插入和状态变化。</a:t>
            </a:r>
            <a:endParaRPr sz="94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343650" y="4381500"/>
            <a:ext cx="47625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343650" y="4381500"/>
            <a:ext cx="76200" cy="914400"/>
          </a:xfrm>
          <a:prstGeom prst="rect">
            <a:avLst/>
          </a:prstGeom>
          <a:solidFill>
            <a:srgbClr val="EF44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610350" y="45720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后台配置</a:t>
            </a:r>
            <a:endParaRPr sz="1575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153400" y="4562475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生成功能目录和 JSON 配置由后台维护，前台按配置动态渲染。</a:t>
            </a:r>
            <a:endParaRPr sz="94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428750" y="5762625"/>
            <a:ext cx="93345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1428750" y="5762625"/>
            <a:ext cx="47625" cy="4762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1581150" y="5886450"/>
            <a:ext cx="9086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技术取舍：用平台服务换取开发效率，同时把任务、作品、媒体和通知状态落回自己的数据库。</a:t>
            </a:r>
            <a:endParaRPr sz="1350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552450" y="6496050"/>
            <a:ext cx="571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5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焕星 AI 内容社交平台毕业设计答辩</a:t>
            </a:r>
            <a:endParaRPr sz="675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1049000" y="64389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900" b="1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495300"/>
            <a:ext cx="34290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90600" y="42862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 测试验证</a:t>
            </a:r>
            <a:endParaRPr sz="75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781050"/>
            <a:ext cx="8572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核心流程测试覆盖认证、内容、生成、互动和后台，主要业务链路可以正常运行。</a:t>
            </a:r>
            <a:endParaRPr sz="2550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47750" y="2038350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用户认证</a:t>
            </a:r>
            <a:endParaRPr sz="1275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667000" y="2000250"/>
            <a:ext cx="6858000" cy="285750"/>
          </a:xfrm>
          <a:prstGeom prst="rect">
            <a:avLst/>
          </a:prstGeom>
          <a:solidFill>
            <a:srgbClr val="E5EA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2667000" y="2000250"/>
            <a:ext cx="6309360" cy="2857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763125" y="20193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92%</a:t>
            </a:r>
            <a:endParaRPr sz="12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047750" y="2724150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内容浏览</a:t>
            </a:r>
            <a:endParaRPr sz="1275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667000" y="2686050"/>
            <a:ext cx="6858000" cy="285750"/>
          </a:xfrm>
          <a:prstGeom prst="rect">
            <a:avLst/>
          </a:prstGeom>
          <a:solidFill>
            <a:srgbClr val="E5EA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2667000" y="2686050"/>
            <a:ext cx="6035040" cy="285750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763125" y="27051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88%</a:t>
            </a:r>
            <a:endParaRPr sz="1200" b="1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047750" y="3409950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生成</a:t>
            </a:r>
            <a:endParaRPr sz="1275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667000" y="3371850"/>
            <a:ext cx="6858000" cy="285750"/>
          </a:xfrm>
          <a:prstGeom prst="rect">
            <a:avLst/>
          </a:prstGeom>
          <a:solidFill>
            <a:srgbClr val="E5EA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2667000" y="3371850"/>
            <a:ext cx="5760720" cy="28575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763125" y="33909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84%</a:t>
            </a:r>
            <a:endParaRPr sz="12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047750" y="4095750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评论互动</a:t>
            </a:r>
            <a:endParaRPr sz="1275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667000" y="4057650"/>
            <a:ext cx="6858000" cy="285750"/>
          </a:xfrm>
          <a:prstGeom prst="rect">
            <a:avLst/>
          </a:prstGeom>
          <a:solidFill>
            <a:srgbClr val="E5EA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2667000" y="4057650"/>
            <a:ext cx="6172200" cy="28575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9763125" y="40767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90%</a:t>
            </a:r>
            <a:endParaRPr sz="1200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047750" y="4781550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管理后台</a:t>
            </a:r>
            <a:endParaRPr sz="1275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667000" y="4743450"/>
            <a:ext cx="6858000" cy="285750"/>
          </a:xfrm>
          <a:prstGeom prst="rect">
            <a:avLst/>
          </a:prstGeom>
          <a:solidFill>
            <a:srgbClr val="E5EA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2667000" y="4743450"/>
            <a:ext cx="5897880" cy="285750"/>
          </a:xfrm>
          <a:prstGeom prst="rect">
            <a:avLst/>
          </a:prstGeom>
          <a:solidFill>
            <a:srgbClr val="A855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9763125" y="47625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86%</a:t>
            </a:r>
            <a:endParaRPr sz="1200" b="1">
              <a:solidFill>
                <a:srgbClr val="A855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000125" y="5619750"/>
            <a:ext cx="9715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285875" y="5753100"/>
            <a:ext cx="914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测试方法：页面功能测试、接口联调、数据库结果检查、AI 任务闭环测试、异常场景测试。</a:t>
            </a:r>
            <a:endParaRPr sz="1275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96050"/>
            <a:ext cx="571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5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焕星 AI 内容社交平台毕业设计答辩</a:t>
            </a:r>
            <a:endParaRPr sz="675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1049000" y="64389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900" b="1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495300"/>
            <a:ext cx="34290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90600" y="42862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 问题与解决</a:t>
            </a:r>
            <a:endParaRPr sz="75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781050"/>
            <a:ext cx="8572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开发中的主要问题来自真实接口替换、异步任务、媒体存储和聊天容错。</a:t>
            </a:r>
            <a:endParaRPr sz="2550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95350" y="171450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endParaRPr sz="105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429000" y="1714500"/>
            <a:ext cx="238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出现原因</a:t>
            </a:r>
            <a:endParaRPr sz="105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334250" y="1714500"/>
            <a:ext cx="238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处理方式</a:t>
            </a:r>
            <a:endParaRPr sz="105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23900" y="2095500"/>
            <a:ext cx="102870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23900" y="2095500"/>
            <a:ext cx="57150" cy="5905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90600" y="22669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字段不一致</a:t>
            </a:r>
            <a:endParaRPr sz="1500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429000" y="2257425"/>
            <a:ext cx="2952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模拟数据替换真实接口时字段对不上</a:t>
            </a:r>
            <a:endParaRPr sz="112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334250" y="2257425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补充 API 文档与类型定义</a:t>
            </a:r>
            <a:endParaRPr sz="1125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23900" y="2933700"/>
            <a:ext cx="102870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23900" y="2933700"/>
            <a:ext cx="57150" cy="59055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990600" y="31051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任务不同步</a:t>
            </a:r>
            <a:endParaRPr sz="1500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429000" y="3095625"/>
            <a:ext cx="2952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任务耗时且页面状态容易滞后</a:t>
            </a:r>
            <a:endParaRPr sz="112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334250" y="3095625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改为 Webhook 回调入库</a:t>
            </a:r>
            <a:endParaRPr sz="1125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23900" y="3771900"/>
            <a:ext cx="102870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23900" y="3771900"/>
            <a:ext cx="57150" cy="590550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990600" y="39433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外链不稳定</a:t>
            </a:r>
            <a:endParaRPr sz="1500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3429000" y="3933825"/>
            <a:ext cx="2952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外部结果地址长期访问不可控</a:t>
            </a:r>
            <a:endParaRPr sz="112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334250" y="3933825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回调阶段转存 COS</a:t>
            </a:r>
            <a:endParaRPr sz="1125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23900" y="4610100"/>
            <a:ext cx="102870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23900" y="4610100"/>
            <a:ext cx="57150" cy="59055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990600" y="47815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会话异常</a:t>
            </a:r>
            <a:endParaRPr sz="1500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429000" y="4772025"/>
            <a:ext cx="2952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conversationId 无效时聊天页空白</a:t>
            </a:r>
            <a:endParaRPr sz="112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334250" y="4772025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校验 ID 并按需重建会话</a:t>
            </a:r>
            <a:endParaRPr sz="1125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52450" y="6496050"/>
            <a:ext cx="571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5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焕星 AI 内容社交平台毕业设计答辩</a:t>
            </a:r>
            <a:endParaRPr sz="675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49000" y="64389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900" b="1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495300"/>
            <a:ext cx="34290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90600" y="42862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总结</a:t>
            </a:r>
            <a:endParaRPr sz="75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781050"/>
            <a:ext cx="8572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课题完成了一套从前端体验到 AI 任务闭环的全栈实现。</a:t>
            </a:r>
            <a:endParaRPr sz="2550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238250" y="2000250"/>
            <a:ext cx="1428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24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238250" y="2419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核心业务模块</a:t>
            </a:r>
            <a:endParaRPr sz="82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524250" y="2000250"/>
            <a:ext cx="1428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13+</a:t>
            </a:r>
            <a:endParaRPr sz="2400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524250" y="2419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主要数据库表</a:t>
            </a:r>
            <a:endParaRPr sz="82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810250" y="2000250"/>
            <a:ext cx="1428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24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810250" y="2419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测试维度</a:t>
            </a:r>
            <a:endParaRPr sz="82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096250" y="2000250"/>
            <a:ext cx="1428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400" b="1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096250" y="2419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完整部署站点</a:t>
            </a:r>
            <a:endParaRPr sz="82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333500" y="3619500"/>
            <a:ext cx="95250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619250" y="3714750"/>
            <a:ext cx="885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 AI 写真、内容浏览、互动关系、私信与后台配置等主要功能。</a:t>
            </a:r>
            <a:endParaRPr sz="1200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333500" y="4210050"/>
            <a:ext cx="95250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619250" y="4305300"/>
            <a:ext cx="885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形成了任务提交、Webhook 回调、媒体转存、作品更新的异步闭环。</a:t>
            </a:r>
            <a:endParaRPr sz="1200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333500" y="4800600"/>
            <a:ext cx="95250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619250" y="4895850"/>
            <a:ext cx="885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5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 Supabase、COS、RuningHub 等平台能力降低了个人项目基础设施成本。</a:t>
            </a:r>
            <a:endParaRPr sz="1200" b="1">
              <a:solidFill>
                <a:srgbClr val="15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52450" y="6496050"/>
            <a:ext cx="571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5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焕星 AI 内容社交平台毕业设计答辩</a:t>
            </a:r>
            <a:endParaRPr sz="675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1049000" y="64389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900" b="1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3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324"/>
              </a:gs>
              <a:gs pos="62000">
                <a:srgbClr val="082F49"/>
              </a:gs>
              <a:gs pos="100000">
                <a:srgbClr val="064E3B"/>
              </a:gs>
            </a:gsLst>
            <a:lin ang="81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6667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BAE6F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BAE6F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未来工作</a:t>
            </a:r>
            <a:endParaRPr sz="1650" b="1">
              <a:solidFill>
                <a:srgbClr val="BAE6F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238250"/>
            <a:ext cx="5905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从可运行系统继续走向</a:t>
            </a:r>
            <a:endParaRPr sz="3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3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更真实的平台化产品。</a:t>
            </a:r>
            <a:endParaRPr sz="3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0" y="1152525"/>
            <a:ext cx="171450" cy="28575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162800" y="106680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推荐算法：结合兴趣、浏览与互动行为</a:t>
            </a:r>
            <a:endParaRPr sz="11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0" y="2162175"/>
            <a:ext cx="171450" cy="28575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162800" y="20764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内容审核：文本、图片与人工复核流程</a:t>
            </a:r>
            <a:endParaRPr sz="11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58000" y="3171825"/>
            <a:ext cx="171450" cy="28575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162800" y="308610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能量体系：点数消耗、套餐与支付闭环</a:t>
            </a:r>
            <a:endParaRPr sz="11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239250" y="1152525"/>
            <a:ext cx="171450" cy="28575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544050" y="106680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消息扩展：搜索、置顶、推送和公告细分</a:t>
            </a:r>
            <a:endParaRPr sz="11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239250" y="2162175"/>
            <a:ext cx="171450" cy="28575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544050" y="20764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能力：视频玩法、动作迁移和数字人</a:t>
            </a:r>
            <a:endParaRPr sz="11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239250" y="3171825"/>
            <a:ext cx="171450" cy="28575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9544050" y="308610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上线运维：备案、监控、队列、缓存与成本控制</a:t>
            </a:r>
            <a:endParaRPr sz="11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52450" y="5191125"/>
            <a:ext cx="4000500" cy="9525"/>
          </a:xfrm>
          <a:prstGeom prst="rect">
            <a:avLst/>
          </a:prstGeom>
          <a:solidFill>
            <a:srgbClr val="FFFFFF">
              <a:alpha val="18824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52450" y="5524500"/>
            <a:ext cx="4953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谢谢各位老师，请批评指正</a:t>
            </a:r>
            <a:endParaRPr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2712</Words>
  <Application>WPS 演示</Application>
  <PresentationFormat>Converted Presentation</PresentationFormat>
  <Paragraphs>440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黑泽遥穹</cp:lastModifiedBy>
  <cp:revision>1</cp:revision>
  <dcterms:created xsi:type="dcterms:W3CDTF">2026-05-10T12:11:03Z</dcterms:created>
  <dcterms:modified xsi:type="dcterms:W3CDTF">2026-05-10T12:11:03Z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E39F082A707D4AF0BD0FBF0CD49E85DC_12</vt:lpwstr>
  </property>
  <property fmtid="{D5CDD505-2E9C-101B-9397-08002B2CF9AE}" pid="3" name="KSOProductBuildVer">
    <vt:lpwstr>2052-12.1.0.23542</vt:lpwstr>
  </property>
</Properties>
</file>